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4" r:id="rId4"/>
    <p:sldId id="265" r:id="rId5"/>
    <p:sldId id="278" r:id="rId6"/>
    <p:sldId id="266" r:id="rId7"/>
    <p:sldId id="279" r:id="rId8"/>
    <p:sldId id="259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6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18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大家好！欢迎来到这个充满变革的课堂。我是你们的老师。今天我们要共同开启一段激动人心的旅程，探讨的主题是《现代软件开发技术：迈向 AI Agent 时代》。
大家请看，我们正处在 2025 年这个关键节点，软件工程正在经历一场前所未有的“范式大转移”。传统的开发模式正在被重新定义。
（显眼包）：2025 年了？老师，我是不是可以把键盘卖了，以后直接对着麦克风‘编程’就行了？
哈哈，虽然还没到完全扔掉键盘的时候，但你的直觉很准。我们这门课的核心愿景，就是帮助大家完成从‘代码劳工’到‘AI 系统管理者’的角色跨越。你不再是那个只负责写 CRUD 的程序员，而是驱动 AI 系统的总指挥。
我们的具体目标，是掌握如何构建 AI Agent 以及复杂的复合大模型系统。这不仅关乎技术，更关乎思维的进化。
无论你是计算机专业的同学，还是寻求转型的开发者，这门课都将为你提供最前沿的视角。好了，背景介绍完毕，让我们深入了解软件工程的演进轴线。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刚才我们初步了解了 AI Agent 的时代背景，现在让我们正式切入核心——软件工程的演进轴线。我们要看清楚，过去这十年，技术基建到底发生了哪些翻天覆地的变化。
请看这张演进图。从最早我们熟知的 DevOps 关注交付效率，到针对机器学习的 MLOps，再到大模型爆发后的 LLMOps。现在，我们正处于从 LLM 向 AgentOps 跨越的关键点上。这不只是名词的改变，而是逻辑的重构。
大家可能会问，为什么一定要演进？最根本的驱动力在于解决‘模型不可控’和‘行动力’问题。以前我们要的是输出，现在我们要的是结果和执行。
目前的痛点非常扎心：大模型虽然聪明，但在调用外部工具时往往无法形成闭环。就像一个大脑很发达的人，却没有灵活的双手。AgentOps 的核心任务，就是为大模型装上这双能够闭环操作的‘手’。
理解了这条演进轴线，你就能明白为什么接下来我们要重点讨论 AgentOps。这是开发者迈向 AI 时代必须掌握的新基建。大家对从‘写代码’到‘管 Agent’的转变有什么直观感受吗？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刚才我们谈到了复合大模型系统的宏大蓝图，但要真正掌握它，我们需要先回看我们是如何走到这里的。这一页，我们来梳理一下软件工程的演进轴线。
回顾过去十年，软件工程的基础设施经历了几次教科书式的跨越。每一次跨越，都是为了解决当时最棘手的生产力瓶颈。
看这里的四个阶段：从最基础的 DevOps 自动化交付，到面向算法的 MLOps，再到去年火遍全球的 LLMOps，而现在，我们正式进入了 AgentOps 时代，也就是智能体运维时代。
请注意这背后的核心驱动力变化。起初我们追求的是『交付速度』，后来变成了如何稳健地进行『模型部署』，而到了 Agent 时代，真正的挑战变成了『行动力控制』。这不仅是把模型跑起来，而是要让它听指挥、做对事。
之所以强调『控制』，是因为我们正面临当前的核心矛盾：大模型虽然表现惊艳，但在实际业务中往往表现得『不可控』，而且缺乏从感知到执行的闭环能力。接下来的课程，我们将重点拆解如何通过工程手段来化解这些矛盾。关于这四个阶段的演变，大家觉得哪一个跨越是最难实现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刚才我们提到了演进的几个阶段，大家也思考了其中的挑战。现在我们就从最基础的自动化开始，看看它是如何一步步演变成今天我们要讨论的智能体系统的。
首先是大家非常熟悉的 DevOps。它核心解决的是‘代码逻辑’的自动化。利用 CI/CD、Docker 以及 K8s，我们能把人类预设好的、确定性的业务逻辑，高效地交付到生产环境。这里的一切都是可预测的。
随着 AI 的普及，MLOps 应运而生。它把 DevOps 的理念延伸到了机器学习领域，更加关注模型的实验追踪、版本控制和线上部署。这时候，我们交付的不再仅仅是代码，而是一个具备推理能力的‘模型’。
大家可以看这张对比图，从左向右，系统的复杂度和管理维度都在不断增加，但逻辑依然相对封闭。
重点在这里：尽管这两种模式极大地提高了生产力，但它们都有一个共同的局限——无法处理‘模糊意图’。它们只能执行我们写死的脚本，或者运行固定的模型，缺乏自主规划和多步推理的能力。这就是为什么我们要进一步探讨 LLMOps 和 AgentOps 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刚才我们聊到了演进轴线，现在我们就把镜头拉近，先深入看看这个演进过程中承前启后的两个关键阶段。
首先是大家非常熟悉的 DevOps。它的核心任务是打破开发和运维之间的那堵‘墙’。通过 Git、Docker 以及 CI/CD 流水线，我们实现了代码交付的工业化，让软件发布变得既快速又可靠。
紧接着，随着深度学习的普及，我们进入了 MLOps 时代。这时候，我们关注的不再仅仅是代码，而是如何管理模型和数据的生命周期，确保静态模型在生产环境中能保持理想的准确率。
大家可以看这张对比表：DevOps 处理的是确定性的逻辑，而 MLOps 则是围绕着‘模型’这种概率性的产物在进行工程化。
但请注意，这两个阶段都有一个共同的‘天花板’。正如这里标注的，它们都无法应对‘模糊的意图’，也缺乏‘多步推理’的能力。它们更像是预设好的精密机器，而不是能随机应变的智能体。
理解了这些局限，你们就能明白为什么我们要向更高级的 LLMOps 和 AgentOps 进化了。接下来，让我们看看智能体运维又是怎么一回事。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承接刚才提到的“模糊意图”挑战，我们正式进入第四部分：LLMOps 与 AgentOps。这不仅仅是术语的简单更新，更是整个运维范式的代际飞跃。我们要理解智能体时代是如何真正到来的。
首先看 LLMOps。在生成式 AI 应用的初期，我们的核心精力主要花在如何优化模型输出上。这也就是大家常说的“给大模型喂好提示词”。
这里面涉及提示词工程、RAG 知识库的检索增强，以及大家非常关心的 Token 成本优化。这时候，我们更像是在精修一个“单点对话框”的性能。
但当系统从“问答”转向“行动”时，AgentOps 就应运而生了。它关注的是端到端的智能体运维，重点不再是单次的回复，而是整个任务的完成过程。
我们需要自动化的评估、精准的工具调用监控，以及对复杂任务链路的管理。这好比从管理一个“打字员”变成了管理一个“能够自主协调资源的职场经理”。
大家看这里，最本质的转变标志在于：我们正从“编写具体逻辑”变为“定义目标并配置工具”。程序员的角色正在发生重塑。那么，大家觉得管理一个能够“自主决策”的数字员工，和以前写死代码相比，最让你觉得心里没底的地方在哪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 MLOps 是如何处理模型自动化的，但当我们步入大模型和智能体时代，运维的范式又发生了质的飞跃。这就是我们今天要深入探讨的 LLMOps 与 AgentOps。
首先看 LLMOps。它的核心目标是管理 Prompt、优化 RAG 检索，以及最让老板头疼的——控制 Token 成本。在这个阶段，我们本质上是在运维一台‘高级问答机’，确保它给出的答案准确且高效。
但当 AI 开始具备‘行动力’，我们就要转向 AgentOps 了。它管理的不再是简单的文本交互，而是‘复合 AI 系统’。你需要实时监控智能体的推理轨迹，看看它在调用外部工具时有没有‘跑偏’，是否陷入了逻辑死循环。
这就涉及到一个非常关键的概念：Harness 工程。由于 AI 的行为具有不可预测性，我们必须给它套上系统级的‘缰绳’。这意味着我们的开发逻辑要发生根本性的转变：不再是写死每一步的‘具体逻辑’，而是通过‘定义目标与护栏’来引导 AI。
这种转变就像是从‘教孩子背课文’变成了‘教孩子做事的方法论’。大家可以思考一下，当我们的工作从写代码变成‘定义目标’，我们作为工程师的价值核心是不是也随之改变了呢？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既然大家已经对开发范式的变迁有了深刻体会，那我们现在就来正式拆解：在 AgentOps 时代，一名顶尖的 AI Agent 工程师到底需要具备什么样的能力模型？
首先是身份的根本转变。我们不再是单纯的“代码搬运工”（Code Laborer），而是要进化为“AI 管理者”（AI Manager）。这意味着你的角色从‘实现逻辑’转向了‘定义逻辑并指挥 AI 去执行’。
你的核心价值将体现在三个维度：第一是设计高内聚低耦合的 Agent 系统架构；第二是精通提示词工程与微调来‘调教’模型；第三，也是非常关键的一点，就是建立起拦截幻觉的防御机制，确保系统的可靠性。
但请记住，AI 并不是万能药，坚实的‘工程基石’依然是你的护城河。如果基础不牢，Agent 系统就会像沙滩上的城堡一样脆弱。
我们需要精通 Git 版本控制和 TDD 测试驱动开发，这是复杂系统的安全网。同时，要掌握异步并发编程来提升响应速度，并深入研究意图解析，让 Agent 真正听懂人话。
大家看这张 2025 年的技术雷达图，它清晰地定义了行业急需的人才画像。工程素养与 AI 驾驭能力的双修，才是通往未来的唯一门票。接下来的章节，我们就来深入探讨这些核心能力的实战应用。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刚才我们提到了构建工程安全网，那么在 Agent 系统中，这份“安全感”具体来自于哪里呢？这就涉及到了我们这一页要讨论的核心：意图解析与底层动力。
我们先来看上层，也就是“AI 逻辑解析层”。这是 Agent 的大脑，负责将模糊的人类语言转化为精确的机器指令。
首先是结构化输出。我们不能让 AI 只停留在“聊天”层面，必须通过特征词工程强制它稳定输出 JSON 格式。只有数据结构化了，后续的系统逻辑才能稳定解析并执行。
接着是思维链 CoT。它引导模型进行逻辑拆解，就像是给 AI 递了一张草稿纸。没有这种深度的任务规划，Agent 很难处理复杂的长链路任务。
但光有大脑是不够的，还得有强壮的“肢体”，也就是底层的系统执行层。
在这里，异步编程是核心能力。无论是 Python 的 Asyncio 还是 Go 的协程，都是为了解决多 API 调用时的 I/O 密集挑战。Agent 需要同时感知环境、检索记忆、调用工具，高效并行是唯一的出路。
如果避开了异步去谈 Agent 开发，系统就会出现严重的响应卡顿。性能调优不仅是提升吞吐量，更是为了让 Agent 的交互体验像丝绸般顺滑。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刚才我们聊到了系统的性能和异步响应，但这只是外部交互。要让 Agent 真正能落地到生产环境，我们需要一套稳健的『马具』。这就是我们现在要深入探讨的：Harness 工程与状态管理。
大家可以把模型看作是拥有强大动力的大脑，而 Harness 就是约束边界的马具。马跑得再快，如果没有马具指引方向、设定边界，它就无法完成具体的任务。Harness 的核心作用就是设定执行边界，并实时处理系统的闭环反馈。
当我们的业务逻辑变得复杂时，千万不要试图用无穷无尽的 If-Else 去堆砌。这里我们引入了类似 LangGraph 的状态空间图理念。把协作流程图谱化，让每一步跳转都清晰可控，而不是淹没在代码迷宫里。
在处理长时任务时，最怕的就是 Agent 突然『失忆』。状态持久化机制就像是给 Agent 装备了随时可读取的硬盘，确保在复杂的多步协作中，上下文信息能够像接力棒一样稳定传递，维持业务逻辑的连续性。
大家看右边这张示意图，它展示了一个典型的多智能体协作状态机。每一个节点代表一个特定的状态。通过这种结构化的管理，我们才能在复杂的业务场景中，让 AI Agent 展现出真正可靠的工程化能力。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刚才我们通过状态机解决了 Agent 的‘逻辑流’问题。但要让 Agent 真正像专家一样处理业务，它还需要两样核心装备：标准化的连接方式和‘长效记忆’。这就是我们现在要探讨的——标准协议与记忆外挂。
首先来看 MCP，即模型上下文协议。我喜欢把它比作 AI 界的‘USB-C 接口’。在没有它之前，我们要让 AI 读取本地文件或远程数据库，需要写大量的适配代码；而有了 MCP，一切都标准化了，AI 可以像插拔 U 盘一样，快速获取它所需的上下文环境。
有了接口，接下来就是内容。RAG，检索增强生成，是目前解决模型‘幻觉’最有效的手段。它相当于给 AI 植入了一个企业级的私有知识库，让它在回答问题前先翻阅‘内部手册’，从而突破 Token 限制，提供极其精准的答案。
而在技术实现层面，我们会用到 Chroma 或 FAISS 这样的轻量级向量库。它们能实现毫秒级的语义检索。想象一下，几百万字的技术文档，AI 可以在瞬间精准定位到最相关的段落，这就是向量索引的魅力。
最后，我们要关注的是‘数据闭环’。这不仅仅是简单的搜索，而是要构建一套从检索到生成的完整工程路径。只有当数据能够流动起来，我们才能真正建立起 AI Agent 的长期记忆底层架构。大家可以思考一下，这种架构对保护企业数据隐私有什么特殊的意义？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刚才我们讨论了数据闭环，但有了数据流动还不够。我们要怎么判断一个 Agent 到底表现得好不好呢？这就是我们接下来要深入探讨的工程范式——EDD，评估驱动开发。它是保证 Agent 走向生产环境的“安全网”。
大家请看这里的测试范式转型。传统软件测试往往是“非黑即白”的确定性输出，Pass 或者 Fail。但 Agent 是基于大模型的，它的输出具有概率性和不确定性。我们不能再用旧的尺子去量新事物，必须从确定性判定转向概率量化。
那么 EDD 具体怎么做呢？核心在于编写自定义的 Evaluator 脚本。我们不再是人工去盯着每一条日志看，而是通过数据驱动的方式，基于多样本进行自动化打分。这就像是为 Agent 请了一位 24 小时待命的“监考老师”。
在这个体系中，有三个核心指标我们需要重点关注。
首先是相关性，评估 Agent 的回答是否真正匹配了用户的真实意图，有没有“答非所问”。
其次是大家最关心的“幻觉率”。我们要通过技术手段量化模型生成虚假信息的概率，这是衡量一个 Agent 是否可靠的关键。
最后是准确度，也就是输出在事实和逻辑上的正确性。通过这三位一体的评估，我们才能给 AI 的表现给出一个客观的、可以被工程化追踪的分数。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在完成了刚才的复盘与自测后，大家应该对自己目前的工程水位有了更清晰的认知。现在，让我们把视线拉高，整体看一看本学期课程方案的全貌，也就是我们将共同跨越的五大演进阶段。
我们的路径从‘安全网’开始。这对应了我们前面提到的工程基础。随后，我们会通过底层解构和框架落地，一步步构建出真正可用的智能体。而最后，也是最能拉开差距的，是量化评估阶段，因为没有评估，AI 工程就只是在凭感觉撞运气。
大家注意到右侧的技术栈特点了吗？我们坚持‘轻量级、全栈式’。很多同学担心没有昂贵的算力集群怎么学 Agent？其实，真正的工业级逻辑完全可以在笔记本算力上进行演练，这也是我们这门课的核心实战理念。
我也为大家准备了一份‘避坑指南’：在现阶段，不要迷失在沉重的基础设施部署中，要把精力死死锁定在‘复合 AI 系统’的核心逻辑上，这才是 Agent 工程师的灵魂。
下方的十三大主题路径表，详细拆解了从‘迈向 Agent 时代’到‘终极收官之战’的每一跳。大家可以对照这张表，看看我们现在正处于哪个位置，接下来的路要怎么走。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好，顺着刚才的路线图，我们现在正式深入前两个阶段的实验细节。这两个阶段的主题我总结为四个字：防线与调度。这不仅是工程的起点，更是大家区分于普通‘调包侠’的分水岭。
在阶段一，也就是实验主题 1 到 3，我们要构建的是‘工程安全网’。我们会练习 Git 实战和 Agent 的版本管理，更重要的是引入 TDD 测试驱动开发。为什么要用 TDD？因为在 AI 开发中，拦截模型的‘幻觉’必须靠一套严密的测试逻辑来兜底，而不是靠运气。
接下来的阶段二更具挑战性。我们要从零开始，纯代码手写一个调度器（Scheduler）。你会亲手设计 Harness 拦截器体系，并处理最棘手的异步高并发限流问题。
注意这个‘限流器’，在真实的生产环境中，这是防止 Token 账单爆炸和系统熔断的保命绝技，大家在实验时一定要反复琢磨。
这一系列设计的核心特色就是：不依赖任何重型框架。我们要带大家透视 Agent 运行最底层的那个 while 循环。当你理解了防阻塞调度策略和 Token 防熔断设计，你就掌握了 AgentOps 的灵魂。大家准备好迎接这波硬核挑战了吗？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刚才我们看清了 Agent 运行的底层循环，现在我们要向上走一步，进入‘阶段三：记忆、协议与多智能体’。这是真正让 Agent 从‘对话框’变成‘数字员工’的关键跨越。
在这个阶段，我们的核心目标是构建具备‘长期记忆’和‘自我修正’能力的系统。大家想象一下，一个能记住你所有历史偏好，并且在写错代码时能自动根据报错进行反思修复的系统，这就是我们要攻克的堡垒。
我们会拆解三个核心主题：首先是‘笔记本级 RAG’，让私有知识库不再沉重；其次是最近火热的 MCP 协议，我们要学会编写标准化的技能插件。最硬核的是‘博弈工程’——让两个智能体像下棋一样博弈，提升输出质量。
大家看这里展示的协作模式：左手是一个‘程序员 Agent’，右手是一个‘审查员 Agent’。他们之间不是简单的聊天，而是基于状态机（State Machine）的紧密配合。程序员写完，审查员找茬，没过关就退回重写。这种‘左右互搏’的模式是目前提升 Agent 可靠性的最优解。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刚才我们深入探讨了 Agent 内部的协作逻辑，那像是给智能体注入了灵魂。现在，我们要聊聊如何给它穿上铠甲，让它真正走进复杂的生产环境。这就是我们要进入的阶段四与阶段五：全栈贯通与运维。
在主题 10 中，我们会关注全栈的生成与封装。以前写代码可能要一行行抠，现在我们要利用 Trae SOLO 实现全栈代码的高效生成。
生成的代码如何跑得稳？我们需要 FastAPI 进行容器化封装。同时，作为工程师，你要能敏锐地识别系统性能瓶颈，不能让 Agent 逻辑在执行中因为耗时过长而‘卡壳’。
接着是课程的最后一块拼图：运维与合规。这是很多开发者容易忽略，但却决定项目生死的环节。
我们会学习基于 EDD 的量化运维体系，实时监控 Agent 的表现。更重要的是，我们要学会对抗‘提示词越狱’，守住数据隐私的红线。工程伦理在 AI 时代不是选修课，而是必修课。
所以，这部分的核心就是：从自动化生成的‘快’，到高安全部署的‘稳’，完成 Agent 全生命周期的闭环管理。大家对‘提示词越狱’这种安全威胁有什么好玩的脑洞或者担忧吗？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 Agent 的安全防线与运维，这其实是在为最后的大招做铺垫。现在，我们终于来到了课程的最顶峰——终极挑战：期末收官之战。
主题 13，我们将进行企业级 AI 助理的全栈开发与答辩。这不仅仅是一个课程作业，而是一次对你过去 17 个阶段学习成果的闭卷考试。
在 Sprint 冲刺环节，大家将采用结对编程的方式。你们需要把前面学到的调度、记忆、协议以及运维策略全部整合在一起，开发出一个真正能够交付的 AI 全栈应用。
最硬核的部分是这个 Vibe-Check 答辩。我们要求大家脱离 IDE，直接在白板上推演核心代码原理。不要指望 AI 帮你写出来的代码能蒙混过关，这一刻，我们要看到的是代码背后的灵魂。
请大家一定要注意：这里实行一票否决制。如果面对 AI 生成的代码，你解释不清其中的逻辑、原理或潜在风险，即便程序运行得再完美，也会被判定为考核失败。我们培养的是能够‘驯服’ AI 的工程师，而不是简单的搬运工。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经历了前面十八个章节的深度探索，从底层的 DevOps 演进到复杂的 AgentOps，我们终于来到了这段旅程的终点。这节课我们系统地梳理了 AI Agent 工程师的全貌。
正如我们刚才在期末挑战中所看到的，AI Agent 工程师的角色已经发生了根本性的重塑。大家要记住，这不仅仅是在编写代码，更是在设计一套能够自我演进、安全可控的架构。掌握了这套管理智能的体系，你将成为 AI 时代不可替代的管理者。
助教也在这里提醒大家，千里之行始于足下。如果觉得整套体系很庞大，最好的切入点就是从配置第一个安全沙盒开始，给你的 Agent 提供一个既自由又安全的运行环境。
听完这些，我感觉自己已经从‘代码搬运工’摇身一变，成了 AI 们的‘霸道总裁’了！
哈哈，说得好！那就带着这份自信和我们课上学到的实战经验，去开启属于你们的 AI 航程吧。感谢大家的陪伴与思考，课程虽然结束了，但你们作为 AI 驯服者的旅程才刚刚开始。大家加油，下课！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现代软件开发技术：迈向 AI Agent 时代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70EDB1F-5781-1BC1-A5B2-36CFBFA4A231}"/>
              </a:ext>
            </a:extLst>
          </p:cNvPr>
          <p:cNvGrpSpPr/>
          <p:nvPr/>
        </p:nvGrpSpPr>
        <p:grpSpPr>
          <a:xfrm>
            <a:off x="4572000" y="1463040"/>
            <a:ext cx="3840480" cy="3017520"/>
            <a:chOff x="4572000" y="1463040"/>
            <a:chExt cx="3840480" cy="3017520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18EB22D0-1D84-788E-2668-B931DB1FD873}"/>
                </a:ext>
              </a:extLst>
            </p:cNvPr>
            <p:cNvSpPr/>
            <p:nvPr/>
          </p:nvSpPr>
          <p:spPr>
            <a:xfrm>
              <a:off x="4572000" y="146304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FAF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33D1A482-CEBE-39AF-9E6B-31ED539EF999}"/>
                </a:ext>
              </a:extLst>
            </p:cNvPr>
            <p:cNvSpPr/>
            <p:nvPr/>
          </p:nvSpPr>
          <p:spPr>
            <a:xfrm>
              <a:off x="4572000" y="1463040"/>
              <a:ext cx="54864" cy="914400"/>
            </a:xfrm>
            <a:custGeom>
              <a:avLst/>
              <a:gdLst/>
              <a:ahLst/>
              <a:cxnLst/>
              <a:rect l="l" t="t" r="r" b="b"/>
              <a:pathLst>
                <a:path w="54864" h="914400">
                  <a:moveTo>
                    <a:pt x="0" y="0"/>
                  </a:moveTo>
                  <a:lnTo>
                    <a:pt x="54864" y="0"/>
                  </a:lnTo>
                  <a:lnTo>
                    <a:pt x="548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FF33CA00-0086-905B-45BE-AA6AE5E1C664}"/>
                </a:ext>
              </a:extLst>
            </p:cNvPr>
            <p:cNvSpPr/>
            <p:nvPr/>
          </p:nvSpPr>
          <p:spPr>
            <a:xfrm>
              <a:off x="4809744" y="1572768"/>
              <a:ext cx="3419856" cy="694944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1296" b="1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范式转变：</a:t>
              </a:r>
              <a:r>
                <a:rPr lang="en-US" sz="1296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软件开发从“手写逻辑”向“AI系统调度”的历史性跨越</a:t>
              </a:r>
              <a:endParaRPr lang="en-US" sz="1152" dirty="0"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B4163FBB-9633-3742-2EA3-BC3FEDE97054}"/>
                </a:ext>
              </a:extLst>
            </p:cNvPr>
            <p:cNvSpPr/>
            <p:nvPr/>
          </p:nvSpPr>
          <p:spPr>
            <a:xfrm>
              <a:off x="4572000" y="251460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FAF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486BFD7C-3BFA-ACC8-18A4-7DAC93E7CFD0}"/>
                </a:ext>
              </a:extLst>
            </p:cNvPr>
            <p:cNvSpPr/>
            <p:nvPr/>
          </p:nvSpPr>
          <p:spPr>
            <a:xfrm>
              <a:off x="4572000" y="2514600"/>
              <a:ext cx="54864" cy="914400"/>
            </a:xfrm>
            <a:custGeom>
              <a:avLst/>
              <a:gdLst/>
              <a:ahLst/>
              <a:cxnLst/>
              <a:rect l="l" t="t" r="r" b="b"/>
              <a:pathLst>
                <a:path w="54864" h="914400">
                  <a:moveTo>
                    <a:pt x="0" y="0"/>
                  </a:moveTo>
                  <a:lnTo>
                    <a:pt x="54864" y="0"/>
                  </a:lnTo>
                  <a:lnTo>
                    <a:pt x="548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EA295419-53EB-C6F5-0A41-3030F94C90B4}"/>
                </a:ext>
              </a:extLst>
            </p:cNvPr>
            <p:cNvSpPr/>
            <p:nvPr/>
          </p:nvSpPr>
          <p:spPr>
            <a:xfrm>
              <a:off x="4809744" y="2624328"/>
              <a:ext cx="3419856" cy="694944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1296" b="1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核心愿景：</a:t>
              </a:r>
              <a:r>
                <a:rPr lang="en-US" sz="1296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转型为AI系统管理者，驱动智能化 Agent 解决复杂任务</a:t>
              </a:r>
              <a:endParaRPr lang="en-US" sz="1152" dirty="0"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1E02BB59-0171-0334-7DA5-63EA885EAFFF}"/>
                </a:ext>
              </a:extLst>
            </p:cNvPr>
            <p:cNvSpPr/>
            <p:nvPr/>
          </p:nvSpPr>
          <p:spPr>
            <a:xfrm>
              <a:off x="4572000" y="356616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FAF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B8DDA6AF-6F9C-75EF-6193-6FB8E4C063BC}"/>
                </a:ext>
              </a:extLst>
            </p:cNvPr>
            <p:cNvSpPr/>
            <p:nvPr/>
          </p:nvSpPr>
          <p:spPr>
            <a:xfrm>
              <a:off x="4572000" y="3566160"/>
              <a:ext cx="54864" cy="914400"/>
            </a:xfrm>
            <a:custGeom>
              <a:avLst/>
              <a:gdLst/>
              <a:ahLst/>
              <a:cxnLst/>
              <a:rect l="l" t="t" r="r" b="b"/>
              <a:pathLst>
                <a:path w="54864" h="914400">
                  <a:moveTo>
                    <a:pt x="0" y="0"/>
                  </a:moveTo>
                  <a:lnTo>
                    <a:pt x="54864" y="0"/>
                  </a:lnTo>
                  <a:lnTo>
                    <a:pt x="548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21D40DFC-054D-5973-F47E-9BB42C7527E4}"/>
                </a:ext>
              </a:extLst>
            </p:cNvPr>
            <p:cNvSpPr/>
            <p:nvPr/>
          </p:nvSpPr>
          <p:spPr>
            <a:xfrm>
              <a:off x="4809744" y="3675888"/>
              <a:ext cx="3419856" cy="694944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1296" b="1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课程目标：</a:t>
              </a:r>
              <a:r>
                <a:rPr lang="en-US" sz="1296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掌握复合大模型系统的工程化构建、调优与实战能力</a:t>
              </a:r>
              <a:endParaRPr lang="en-US" sz="1152" dirty="0"/>
            </a:p>
          </p:txBody>
        </p:sp>
      </p:grpSp>
      <p:sp>
        <p:nvSpPr>
          <p:cNvPr id="20" name="Shape 3">
            <a:extLst>
              <a:ext uri="{FF2B5EF4-FFF2-40B4-BE49-F238E27FC236}">
                <a16:creationId xmlns:a16="http://schemas.microsoft.com/office/drawing/2014/main" id="{A2644516-B798-A8A3-32F6-FAE13FCFABDE}"/>
              </a:ext>
            </a:extLst>
          </p:cNvPr>
          <p:cNvSpPr/>
          <p:nvPr/>
        </p:nvSpPr>
        <p:spPr>
          <a:xfrm>
            <a:off x="365760" y="2512337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1005840">
                <a:moveTo>
                  <a:pt x="0" y="0"/>
                </a:moveTo>
                <a:lnTo>
                  <a:pt x="4023360" y="0"/>
                </a:lnTo>
                <a:lnTo>
                  <a:pt x="402336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0F7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C37BBDF-4528-5677-C65C-56F37C8CF453}"/>
              </a:ext>
            </a:extLst>
          </p:cNvPr>
          <p:cNvSpPr/>
          <p:nvPr/>
        </p:nvSpPr>
        <p:spPr>
          <a:xfrm>
            <a:off x="365759" y="2512337"/>
            <a:ext cx="45719" cy="914400"/>
          </a:xfrm>
          <a:custGeom>
            <a:avLst/>
            <a:gdLst/>
            <a:ahLst/>
            <a:cxnLst/>
            <a:rect l="l" t="t" r="r" b="b"/>
            <a:pathLst>
              <a:path w="36576" h="1005840">
                <a:moveTo>
                  <a:pt x="0" y="0"/>
                </a:moveTo>
                <a:lnTo>
                  <a:pt x="36576" y="0"/>
                </a:lnTo>
                <a:lnTo>
                  <a:pt x="36576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0052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CF06B7A-077E-485F-B064-183C88138107}"/>
              </a:ext>
            </a:extLst>
          </p:cNvPr>
          <p:cNvSpPr/>
          <p:nvPr/>
        </p:nvSpPr>
        <p:spPr>
          <a:xfrm>
            <a:off x="548640" y="2777513"/>
            <a:ext cx="36576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5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核心转变：从手写代码 ➔ 编排 AI 系统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软件工程的演进轴线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00584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188720"/>
            <a:ext cx="5029200" cy="28254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4206240"/>
            <a:ext cx="3657600" cy="694944"/>
          </a:xfrm>
          <a:custGeom>
            <a:avLst/>
            <a:gdLst/>
            <a:ahLst/>
            <a:cxnLst/>
            <a:rect l="l" t="t" r="r" b="b"/>
            <a:pathLst>
              <a:path w="3657600" h="694944">
                <a:moveTo>
                  <a:pt x="0" y="0"/>
                </a:moveTo>
                <a:lnTo>
                  <a:pt x="3657600" y="0"/>
                </a:lnTo>
                <a:lnTo>
                  <a:pt x="365760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0F7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914400" y="4325112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驱动力：</a:t>
            </a: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解决模型不可控与行动力问题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4754880" y="4206240"/>
            <a:ext cx="3657600" cy="694944"/>
          </a:xfrm>
          <a:custGeom>
            <a:avLst/>
            <a:gdLst/>
            <a:ahLst/>
            <a:cxnLst/>
            <a:rect l="l" t="t" r="r" b="b"/>
            <a:pathLst>
              <a:path w="3657600" h="694944">
                <a:moveTo>
                  <a:pt x="0" y="0"/>
                </a:moveTo>
                <a:lnTo>
                  <a:pt x="3657600" y="0"/>
                </a:lnTo>
                <a:lnTo>
                  <a:pt x="365760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4937759" y="4325112"/>
            <a:ext cx="3373322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</a:t>
            </a:r>
            <a:r>
              <a:rPr lang="en-US" sz="1296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突破大模型工具调用闭环能力的局限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软件工程的演进轴线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389120" cy="2468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212080" y="1463040"/>
            <a:ext cx="3383280" cy="822960"/>
          </a:xfrm>
          <a:custGeom>
            <a:avLst/>
            <a:gdLst/>
            <a:ahLst/>
            <a:cxnLst/>
            <a:rect l="l" t="t" r="r" b="b"/>
            <a:pathLst>
              <a:path w="3383280" h="822960">
                <a:moveTo>
                  <a:pt x="0" y="0"/>
                </a:moveTo>
                <a:lnTo>
                  <a:pt x="3383280" y="0"/>
                </a:lnTo>
                <a:lnTo>
                  <a:pt x="33832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5349240" y="152704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四个进化阶段：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→ MLOps → LLMOps → AgentOps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212080" y="2423160"/>
            <a:ext cx="3383280" cy="822960"/>
          </a:xfrm>
          <a:custGeom>
            <a:avLst/>
            <a:gdLst/>
            <a:ahLst/>
            <a:cxnLst/>
            <a:rect l="l" t="t" r="r" b="b"/>
            <a:pathLst>
              <a:path w="3383280" h="822960">
                <a:moveTo>
                  <a:pt x="0" y="0"/>
                </a:moveTo>
                <a:lnTo>
                  <a:pt x="3383280" y="0"/>
                </a:lnTo>
                <a:lnTo>
                  <a:pt x="33832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FF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5349240" y="248716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核心驱动力变化：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交付速度 → 模型部署 → 行动力控制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212080" y="3383280"/>
            <a:ext cx="3383280" cy="822960"/>
          </a:xfrm>
          <a:custGeom>
            <a:avLst/>
            <a:gdLst/>
            <a:ahLst/>
            <a:cxnLst/>
            <a:rect l="l" t="t" r="r" b="b"/>
            <a:pathLst>
              <a:path w="3383280" h="822960">
                <a:moveTo>
                  <a:pt x="0" y="0"/>
                </a:moveTo>
                <a:lnTo>
                  <a:pt x="3383280" y="0"/>
                </a:lnTo>
                <a:lnTo>
                  <a:pt x="33832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349240" y="344728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当前核心矛盾：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解决大模型不可控与缺乏闭环执行能力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从DevOps到MLOps：自动化的初步探索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200400" cy="1188720"/>
          </a:xfrm>
          <a:custGeom>
            <a:avLst/>
            <a:gdLst/>
            <a:ahLst/>
            <a:cxnLst/>
            <a:rect l="l" t="t" r="r" b="b"/>
            <a:pathLst>
              <a:path w="3200400" h="1188720">
                <a:moveTo>
                  <a:pt x="0" y="0"/>
                </a:moveTo>
                <a:lnTo>
                  <a:pt x="3200400" y="0"/>
                </a:lnTo>
                <a:lnTo>
                  <a:pt x="32004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0F9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85800" y="1527048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DevOps：代码逻辑自动化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CI/CD、Docker/K8s 解决人类预设的确定性逻辑交付。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3200400" cy="1188720"/>
          </a:xfrm>
          <a:custGeom>
            <a:avLst/>
            <a:gdLst/>
            <a:ahLst/>
            <a:cxnLst/>
            <a:rect l="l" t="t" r="r" b="b"/>
            <a:pathLst>
              <a:path w="3200400" h="1188720">
                <a:moveTo>
                  <a:pt x="0" y="0"/>
                </a:moveTo>
                <a:lnTo>
                  <a:pt x="3200400" y="0"/>
                </a:lnTo>
                <a:lnTo>
                  <a:pt x="32004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DF2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85800" y="2852928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831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MLOps：模型生命周期运维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关注机器学习模型的实验追踪、版本控制与生产环境部署。</a:t>
            </a:r>
            <a:endParaRPr lang="en-US" sz="1152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280160"/>
            <a:ext cx="4572000" cy="2569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02336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31520" y="410565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共同局限：</a:t>
            </a:r>
            <a:r>
              <a:rPr lang="en-US" sz="144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无法处理模糊意图，缺乏自主多步推理能力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DevOps 到 MLOps：自动化与模型化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931920" cy="1554480"/>
          </a:xfrm>
          <a:custGeom>
            <a:avLst/>
            <a:gdLst/>
            <a:ahLst/>
            <a:cxnLst/>
            <a:rect l="l" t="t" r="r" b="b"/>
            <a:pathLst>
              <a:path w="3931920" h="1554480">
                <a:moveTo>
                  <a:pt x="0" y="0"/>
                </a:moveTo>
                <a:lnTo>
                  <a:pt x="3931920" y="0"/>
                </a:lnTo>
                <a:lnTo>
                  <a:pt x="393192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打破开发与运维壁垒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关注代码交付 (Git, Docker, CI/CD)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663440" y="1371600"/>
            <a:ext cx="3931920" cy="1554480"/>
          </a:xfrm>
          <a:custGeom>
            <a:avLst/>
            <a:gdLst/>
            <a:ahLst/>
            <a:cxnLst/>
            <a:rect l="l" t="t" r="r" b="b"/>
            <a:pathLst>
              <a:path w="3931920" h="1554480">
                <a:moveTo>
                  <a:pt x="0" y="0"/>
                </a:moveTo>
                <a:lnTo>
                  <a:pt x="3931920" y="0"/>
                </a:lnTo>
                <a:lnTo>
                  <a:pt x="393192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84632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将机器学习模型推向生产环境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关注静态模型准确率与迭代</a:t>
            </a:r>
            <a:endParaRPr lang="en-US" sz="1152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548640" y="3108960"/>
          <a:ext cx="8046720" cy="1371600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DevOps (代码时代)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MLOps (模型时代)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核心资产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 (Code)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 + 模型 (Data+Model)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核心目标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自动化流水线交付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高性能模型生产化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572000"/>
            <a:ext cx="8046720" cy="475488"/>
          </a:xfrm>
          <a:custGeom>
            <a:avLst/>
            <a:gdLst/>
            <a:ahLst/>
            <a:cxnLst/>
            <a:rect l="l" t="t" r="r" b="b"/>
            <a:pathLst>
              <a:path w="8046720" h="475488">
                <a:moveTo>
                  <a:pt x="0" y="0"/>
                </a:moveTo>
                <a:lnTo>
                  <a:pt x="8046720" y="0"/>
                </a:lnTo>
                <a:lnTo>
                  <a:pt x="8046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31520" y="4572000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共同局限：</a:t>
            </a:r>
            <a:r>
              <a:rPr lang="en-US" sz="1296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无法应对模糊意图，缺乏多步推理能力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LLMOps 与 AgentOps：智能体时代的到来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LLMOps：侧重提示词与成本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提示词工程 (Prompt Engineering)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 知识库检索增强与 Token 优化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AgentOps：端到端智能体运维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自动化评估、工具调用与监控平台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侧重复杂任务链路的端到端管理</a:t>
            </a:r>
            <a:endParaRPr lang="en-US" sz="1152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023360" cy="22585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794760"/>
            <a:ext cx="8046720" cy="822960"/>
          </a:xfrm>
          <a:custGeom>
            <a:avLst/>
            <a:gdLst/>
            <a:ahLst/>
            <a:cxnLst/>
            <a:rect l="l" t="t" r="r" b="b"/>
            <a:pathLst>
              <a:path w="8046720" h="822960">
                <a:moveTo>
                  <a:pt x="0" y="0"/>
                </a:moveTo>
                <a:lnTo>
                  <a:pt x="8046720" y="0"/>
                </a:lnTo>
                <a:lnTo>
                  <a:pt x="8046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31520" y="394106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转变标志：从</a:t>
            </a:r>
            <a:r>
              <a:rPr lang="en-US" sz="172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「编写具体逻辑」</a:t>
            </a:r>
            <a:r>
              <a:rPr lang="en-US" sz="172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变为</a:t>
            </a:r>
            <a:r>
              <a:rPr lang="en-US" sz="172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「定义目标并配置工具」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4864" cy="822960"/>
          </a:xfrm>
          <a:custGeom>
            <a:avLst/>
            <a:gdLst/>
            <a:ahLst/>
            <a:cxnLst/>
            <a:rect l="l" t="t" r="r" b="b"/>
            <a:pathLst>
              <a:path w="54864" h="822960">
                <a:moveTo>
                  <a:pt x="0" y="0"/>
                </a:moveTo>
                <a:lnTo>
                  <a:pt x="54864" y="0"/>
                </a:lnTo>
                <a:lnTo>
                  <a:pt x="54864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LLMOps 与 AgentOps：迈向智能体运维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0"/>
          </a:xfrm>
          <a:custGeom>
            <a:avLst/>
            <a:gdLst/>
            <a:ahLst/>
            <a:cxnLst/>
            <a:rect l="l" t="t" r="r" b="b"/>
            <a:pathLst>
              <a:path w="8046720">
                <a:moveTo>
                  <a:pt x="0" y="0"/>
                </a:moveTo>
                <a:lnTo>
                  <a:pt x="8046720" y="0"/>
                </a:lnTo>
              </a:path>
            </a:pathLst>
          </a:custGeom>
          <a:noFill/>
          <a:ln w="18288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运维范式的演进与区分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0F7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31520" y="198424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5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LLMOps</a:t>
            </a:r>
            <a:r>
              <a:rPr lang="en-US" sz="1296" dirty="0">
                <a:solidFill>
                  <a:srgbClr val="005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：管理 Prompt、RAG 与 Token 成本（定位于高级问答机）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82880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0FF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46320" y="198424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7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AgentOps</a:t>
            </a:r>
            <a:r>
              <a:rPr lang="en-US" sz="1296" dirty="0">
                <a:solidFill>
                  <a:srgbClr val="1E7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：管理复合 AI 系统，监控推理轨迹与外部工具调用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工程与开发逻辑转型</a:t>
            </a:r>
            <a:endParaRPr lang="en-US" sz="1152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2011680" cy="11338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3611880"/>
            <a:ext cx="54864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96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工程</a:t>
            </a: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：为不可控的 AI 套上系统级“缰绳”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96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逻辑转变</a:t>
            </a: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：从“写具体逻辑”到“定义目标与护栏”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801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</a:t>
            </a:r>
            <a:r>
              <a:rPr lang="en-US" sz="2304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工程师的能力模型</a:t>
            </a:r>
            <a:r>
              <a:rPr lang="zh-CN" alt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总览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48640" y="1513332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核心价值：重构开发逻辑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85800" y="1924812"/>
            <a:ext cx="38862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r>
              <a:rPr lang="en-US" sz="1152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设计系统</a:t>
            </a: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：构建高内聚低耦合的 Agent 架构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r>
              <a:rPr lang="en-US" sz="1152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 AI</a:t>
            </a: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：通过提示词工程与微调驱动模型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r>
              <a:rPr lang="en-US" sz="1152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拦截幻觉</a:t>
            </a: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：建立确定性的结果校验机制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48640" y="2930652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必备能力：工程基石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685800" y="3342132"/>
            <a:ext cx="38862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r>
              <a:rPr lang="en-US" sz="1152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工程安全网</a:t>
            </a: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：精通 Git 版本控制与 TDD 开发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r>
              <a:rPr lang="en-US" sz="1152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底层动力</a:t>
            </a: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：掌握异步并发编程与意图解析</a:t>
            </a:r>
            <a:endParaRPr lang="en-US" sz="1152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1690B38-26A8-0396-A6E2-35E6FE4E3532}"/>
              </a:ext>
            </a:extLst>
          </p:cNvPr>
          <p:cNvSpPr/>
          <p:nvPr/>
        </p:nvSpPr>
        <p:spPr>
          <a:xfrm>
            <a:off x="4754880" y="125730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状态机与图论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LangGraph 管理多智能体协作，构建严谨的逻辑拓扑结构。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MCP 协议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连接外部世界的“USB-C 接口”，实现工具调用的标准化。</a:t>
            </a:r>
            <a:endParaRPr lang="en-US" sz="1152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98A89B9-6A8E-D240-0563-E8ED2FB34E6A}"/>
              </a:ext>
            </a:extLst>
          </p:cNvPr>
          <p:cNvSpPr/>
          <p:nvPr/>
        </p:nvSpPr>
        <p:spPr>
          <a:xfrm>
            <a:off x="4754880" y="2825496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 与长期记忆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Chroma/FAISS 向量数据库，突破模型原生上下文的容量限制。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EDD (评估驱动开发)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量化评估输出幻觉率，以数据指标驱动模型能力的持续迭代。</a:t>
            </a:r>
            <a:endParaRPr lang="en-US" sz="1152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83CCFE2-DB3E-5FB2-749C-644358A92E6D}"/>
              </a:ext>
            </a:extLst>
          </p:cNvPr>
          <p:cNvSpPr/>
          <p:nvPr/>
        </p:nvSpPr>
        <p:spPr>
          <a:xfrm>
            <a:off x="4846320" y="923544"/>
            <a:ext cx="4023360" cy="42492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US" sz="1296" b="1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Harness </a:t>
            </a:r>
            <a:r>
              <a:rPr lang="en-US" altLang="zh-CN" sz="1400" b="1" dirty="0" err="1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与状态管理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2953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US" sz="2592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意图解析与底层动力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2743200" cy="36576"/>
          </a:xfrm>
          <a:custGeom>
            <a:avLst/>
            <a:gdLst/>
            <a:ahLst/>
            <a:cxnLst/>
            <a:rect l="l" t="t" r="r" b="b"/>
            <a:pathLst>
              <a:path w="2743200" h="36576">
                <a:moveTo>
                  <a:pt x="0" y="0"/>
                </a:moveTo>
                <a:lnTo>
                  <a:pt x="2743200" y="0"/>
                </a:lnTo>
                <a:lnTo>
                  <a:pt x="27432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逻辑解析层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931920" cy="1280160"/>
          </a:xfrm>
          <a:custGeom>
            <a:avLst/>
            <a:gdLst/>
            <a:ahLst/>
            <a:cxnLst/>
            <a:rect l="l" t="t" r="r" b="b"/>
            <a:pathLst>
              <a:path w="3931920" h="1280160">
                <a:moveTo>
                  <a:pt x="0" y="0"/>
                </a:moveTo>
                <a:lnTo>
                  <a:pt x="3931920" y="0"/>
                </a:lnTo>
                <a:lnTo>
                  <a:pt x="393192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31520" y="2093976"/>
            <a:ext cx="35661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 (JSON)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强制模型稳定输出结构，确保 Agent 系统可解析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931920" cy="1280160"/>
          </a:xfrm>
          <a:custGeom>
            <a:avLst/>
            <a:gdLst/>
            <a:ahLst/>
            <a:cxnLst/>
            <a:rect l="l" t="t" r="r" b="b"/>
            <a:pathLst>
              <a:path w="3931920" h="1280160">
                <a:moveTo>
                  <a:pt x="0" y="0"/>
                </a:moveTo>
                <a:lnTo>
                  <a:pt x="3931920" y="0"/>
                </a:lnTo>
                <a:lnTo>
                  <a:pt x="393192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31520" y="3557016"/>
            <a:ext cx="35661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思维链 (CoT)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引导模型进行逻辑拆解，提升任务规划深度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663440" y="128016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底层系统执行层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4663440" y="1828800"/>
            <a:ext cx="3931920" cy="1280160"/>
          </a:xfrm>
          <a:custGeom>
            <a:avLst/>
            <a:gdLst/>
            <a:ahLst/>
            <a:cxnLst/>
            <a:rect l="l" t="t" r="r" b="b"/>
            <a:pathLst>
              <a:path w="3931920" h="1280160">
                <a:moveTo>
                  <a:pt x="0" y="0"/>
                </a:moveTo>
                <a:lnTo>
                  <a:pt x="3931920" y="0"/>
                </a:lnTo>
                <a:lnTo>
                  <a:pt x="393192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846320" y="2093976"/>
            <a:ext cx="35661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异步编程 (Asyncio)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解决多 API 调用 I/O 密集挑战，实现高效并行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4663440" y="3291840"/>
            <a:ext cx="3931920" cy="1280160"/>
          </a:xfrm>
          <a:custGeom>
            <a:avLst/>
            <a:gdLst/>
            <a:ahLst/>
            <a:cxnLst/>
            <a:rect l="l" t="t" r="r" b="b"/>
            <a:pathLst>
              <a:path w="3931920" h="1280160">
                <a:moveTo>
                  <a:pt x="0" y="0"/>
                </a:moveTo>
                <a:lnTo>
                  <a:pt x="3931920" y="0"/>
                </a:lnTo>
                <a:lnTo>
                  <a:pt x="393192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846320" y="3557016"/>
            <a:ext cx="35661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性能调优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 Agent 响应卡顿，提升系统整体吞吐量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工程与状态管理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94360" y="1463040"/>
            <a:ext cx="36576" cy="3063240"/>
          </a:xfrm>
          <a:custGeom>
            <a:avLst/>
            <a:gdLst/>
            <a:ahLst/>
            <a:cxnLst/>
            <a:rect l="l" t="t" r="r" b="b"/>
            <a:pathLst>
              <a:path w="36576" h="3063240">
                <a:moveTo>
                  <a:pt x="0" y="0"/>
                </a:moveTo>
                <a:lnTo>
                  <a:pt x="36576" y="0"/>
                </a:lnTo>
                <a:lnTo>
                  <a:pt x="36576" y="3063240"/>
                </a:lnTo>
                <a:lnTo>
                  <a:pt x="0" y="306324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1463040"/>
            <a:ext cx="347472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边界约束与闭环反馈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模型作为大脑，Harness 作为马具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设定执行边界，处理系统反馈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347472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状态空间图管理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 LangGraph 协作理念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替代碎片化的 If-Else 逻辑判断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347472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状态持久化机制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解决长时任务中的“失忆”问题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确保 Agent 协作的上下文连续性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4480560" y="1371600"/>
            <a:ext cx="4206240" cy="3108960"/>
          </a:xfrm>
          <a:custGeom>
            <a:avLst/>
            <a:gdLst/>
            <a:ahLst/>
            <a:cxnLst/>
            <a:rect l="l" t="t" r="r" b="b"/>
            <a:pathLst>
              <a:path w="4206240" h="3108960">
                <a:moveTo>
                  <a:pt x="0" y="0"/>
                </a:moveTo>
                <a:lnTo>
                  <a:pt x="4206240" y="0"/>
                </a:lnTo>
                <a:lnTo>
                  <a:pt x="420624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4480"/>
            <a:ext cx="4023360" cy="22585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93192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多智能体协作状态机示意图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标准协议与记忆外挂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931920" cy="1508760"/>
          </a:xfrm>
          <a:custGeom>
            <a:avLst/>
            <a:gdLst/>
            <a:ahLst/>
            <a:cxnLst/>
            <a:rect l="l" t="t" r="r" b="b"/>
            <a:pathLst>
              <a:path w="3931920" h="1508760">
                <a:moveTo>
                  <a:pt x="0" y="0"/>
                </a:moveTo>
                <a:lnTo>
                  <a:pt x="3931920" y="0"/>
                </a:lnTo>
                <a:lnTo>
                  <a:pt x="3931920" y="1508760"/>
                </a:lnTo>
                <a:lnTo>
                  <a:pt x="0" y="150876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MCP：模型上下文协议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的“USB-C 接口”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标准化读取本地文件与远程数据库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1508760"/>
          </a:xfrm>
          <a:custGeom>
            <a:avLst/>
            <a:gdLst/>
            <a:ahLst/>
            <a:cxnLst/>
            <a:rect l="l" t="t" r="r" b="b"/>
            <a:pathLst>
              <a:path w="3931920" h="1508760">
                <a:moveTo>
                  <a:pt x="0" y="0"/>
                </a:moveTo>
                <a:lnTo>
                  <a:pt x="3931920" y="0"/>
                </a:lnTo>
                <a:lnTo>
                  <a:pt x="3931920" y="1508760"/>
                </a:lnTo>
                <a:lnTo>
                  <a:pt x="0" y="150876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46320" y="164592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RAG：检索增强生成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84632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植入企业级私有知识库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 Token 限制，消除模型幻觉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3931920" cy="1508760"/>
          </a:xfrm>
          <a:custGeom>
            <a:avLst/>
            <a:gdLst/>
            <a:ahLst/>
            <a:cxnLst/>
            <a:rect l="l" t="t" r="r" b="b"/>
            <a:pathLst>
              <a:path w="3931920" h="1508760">
                <a:moveTo>
                  <a:pt x="0" y="0"/>
                </a:moveTo>
                <a:lnTo>
                  <a:pt x="3931920" y="0"/>
                </a:lnTo>
                <a:lnTo>
                  <a:pt x="3931920" y="1508760"/>
                </a:lnTo>
                <a:lnTo>
                  <a:pt x="0" y="1508760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31520" y="338328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轻量级向量库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73152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/ FAISS 本地应用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实现毫秒级语意检索与索引存储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663440" y="3200400"/>
            <a:ext cx="3931920" cy="1508760"/>
          </a:xfrm>
          <a:custGeom>
            <a:avLst/>
            <a:gdLst/>
            <a:ahLst/>
            <a:cxnLst/>
            <a:rect l="l" t="t" r="r" b="b"/>
            <a:pathLst>
              <a:path w="3931920" h="1508760">
                <a:moveTo>
                  <a:pt x="0" y="0"/>
                </a:moveTo>
                <a:lnTo>
                  <a:pt x="3931920" y="0"/>
                </a:lnTo>
                <a:lnTo>
                  <a:pt x="3931920" y="1508760"/>
                </a:lnTo>
                <a:lnTo>
                  <a:pt x="0" y="1508760"/>
                </a:lnTo>
                <a:close/>
              </a:path>
            </a:pathLst>
          </a:custGeom>
          <a:solidFill>
            <a:srgbClr val="FAF5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846320" y="338328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7E2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84632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从检索到生成的全工程路径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AI 长期记忆的底层架构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572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1005840" y="457200"/>
            <a:ext cx="75895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EDD：评估驱动开发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1005840" y="960120"/>
            <a:ext cx="75895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 Agent 输出的概率性与不确定性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931920" cy="1463040"/>
          </a:xfrm>
          <a:custGeom>
            <a:avLst/>
            <a:gdLst/>
            <a:ahLst/>
            <a:cxnLst/>
            <a:rect l="l" t="t" r="r" b="b"/>
            <a:pathLst>
              <a:path w="3931920" h="1463040">
                <a:moveTo>
                  <a:pt x="0" y="0"/>
                </a:moveTo>
                <a:lnTo>
                  <a:pt x="3931920" y="0"/>
                </a:lnTo>
                <a:lnTo>
                  <a:pt x="393192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测试范式转型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传统测试：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确定性输出，Pass/Fail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测试：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概率性输出，量化评分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转变：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从“匹配”转向“分布评估”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3931920" cy="1463040"/>
          </a:xfrm>
          <a:custGeom>
            <a:avLst/>
            <a:gdLst/>
            <a:ahLst/>
            <a:cxnLst/>
            <a:rect l="l" t="t" r="r" b="b"/>
            <a:pathLst>
              <a:path w="3931920" h="1463040">
                <a:moveTo>
                  <a:pt x="0" y="0"/>
                </a:moveTo>
                <a:lnTo>
                  <a:pt x="3931920" y="0"/>
                </a:lnTo>
                <a:lnTo>
                  <a:pt x="393192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9204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EDD 核心流程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Evaluator：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编写自定义评估脚本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数据驱动：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基于多样本自动化打分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迭代：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根据评估得分优化 Prompt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核心评估指标 (Core Metrics)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2560320" cy="914400"/>
          </a:xfrm>
          <a:custGeom>
            <a:avLst/>
            <a:gdLst/>
            <a:ahLst/>
            <a:cxnLst/>
            <a:rect l="l" t="t" r="r" b="b"/>
            <a:pathLst>
              <a:path w="2560320" h="914400">
                <a:moveTo>
                  <a:pt x="0" y="0"/>
                </a:moveTo>
                <a:lnTo>
                  <a:pt x="2560320" y="0"/>
                </a:lnTo>
                <a:lnTo>
                  <a:pt x="25603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31520" y="390448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</a:t>
            </a:r>
            <a:endParaRPr lang="en-US" sz="1152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回答是否匹配用户意图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3291840" y="3794760"/>
            <a:ext cx="2560320" cy="914400"/>
          </a:xfrm>
          <a:custGeom>
            <a:avLst/>
            <a:gdLst/>
            <a:ahLst/>
            <a:cxnLst/>
            <a:rect l="l" t="t" r="r" b="b"/>
            <a:pathLst>
              <a:path w="2560320" h="914400">
                <a:moveTo>
                  <a:pt x="0" y="0"/>
                </a:moveTo>
                <a:lnTo>
                  <a:pt x="2560320" y="0"/>
                </a:lnTo>
                <a:lnTo>
                  <a:pt x="25603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474720" y="390448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</a:t>
            </a:r>
            <a:endParaRPr lang="en-US" sz="1152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模型生成虚假信息的概率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6035040" y="3794760"/>
            <a:ext cx="2560320" cy="914400"/>
          </a:xfrm>
          <a:custGeom>
            <a:avLst/>
            <a:gdLst/>
            <a:ahLst/>
            <a:cxnLst/>
            <a:rect l="l" t="t" r="r" b="b"/>
            <a:pathLst>
              <a:path w="2560320" h="914400">
                <a:moveTo>
                  <a:pt x="0" y="0"/>
                </a:moveTo>
                <a:lnTo>
                  <a:pt x="2560320" y="0"/>
                </a:lnTo>
                <a:lnTo>
                  <a:pt x="25603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5F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217920" y="390448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准确度</a:t>
            </a:r>
            <a:endParaRPr lang="en-US" sz="1152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输出事实与逻辑的正确性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课程方案概览：五大阶段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691640" cy="694944"/>
          </a:xfrm>
          <a:custGeom>
            <a:avLst/>
            <a:gdLst/>
            <a:ahLst/>
            <a:cxnLst/>
            <a:rect l="l" t="t" r="r" b="b"/>
            <a:pathLst>
              <a:path w="1691640" h="694944">
                <a:moveTo>
                  <a:pt x="0" y="0"/>
                </a:moveTo>
                <a:lnTo>
                  <a:pt x="1691640" y="0"/>
                </a:lnTo>
                <a:lnTo>
                  <a:pt x="16916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58368" y="1399032"/>
            <a:ext cx="1472184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安全网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2240280" y="1627632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27432">
            <a:solidFill>
              <a:srgbClr val="93C5F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651760" y="1280160"/>
            <a:ext cx="1691640" cy="694944"/>
          </a:xfrm>
          <a:custGeom>
            <a:avLst/>
            <a:gdLst/>
            <a:ahLst/>
            <a:cxnLst/>
            <a:rect l="l" t="t" r="r" b="b"/>
            <a:pathLst>
              <a:path w="1691640" h="694944">
                <a:moveTo>
                  <a:pt x="0" y="0"/>
                </a:moveTo>
                <a:lnTo>
                  <a:pt x="1691640" y="0"/>
                </a:lnTo>
                <a:lnTo>
                  <a:pt x="16916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2761488" y="1399032"/>
            <a:ext cx="1472184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底层解构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343400" y="1627632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27432">
            <a:solidFill>
              <a:srgbClr val="93C5F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1691640" cy="694944"/>
          </a:xfrm>
          <a:custGeom>
            <a:avLst/>
            <a:gdLst/>
            <a:ahLst/>
            <a:cxnLst/>
            <a:rect l="l" t="t" r="r" b="b"/>
            <a:pathLst>
              <a:path w="1691640" h="694944">
                <a:moveTo>
                  <a:pt x="0" y="0"/>
                </a:moveTo>
                <a:lnTo>
                  <a:pt x="1691640" y="0"/>
                </a:lnTo>
                <a:lnTo>
                  <a:pt x="16916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864608" y="1399032"/>
            <a:ext cx="1472184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框架落地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6446520" y="1627632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27432">
            <a:solidFill>
              <a:srgbClr val="93C5F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858000" y="1280160"/>
            <a:ext cx="1691640" cy="694944"/>
          </a:xfrm>
          <a:custGeom>
            <a:avLst/>
            <a:gdLst/>
            <a:ahLst/>
            <a:cxnLst/>
            <a:rect l="l" t="t" r="r" b="b"/>
            <a:pathLst>
              <a:path w="1691640" h="694944">
                <a:moveTo>
                  <a:pt x="0" y="0"/>
                </a:moveTo>
                <a:lnTo>
                  <a:pt x="1691640" y="0"/>
                </a:lnTo>
                <a:lnTo>
                  <a:pt x="16916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967728" y="1399032"/>
            <a:ext cx="1472184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548640" y="219456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31520" y="2286000"/>
            <a:ext cx="35661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技术栈特点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轻量级、全栈式实战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基于笔记本算力的工业级演练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4663440" y="219456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4846320" y="2286000"/>
            <a:ext cx="35661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避坑指南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摒弃沉重集群部署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专注复合 AI 系统核心逻辑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548640" y="3337560"/>
            <a:ext cx="8046720" cy="3824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主题路径一览表</a:t>
            </a:r>
            <a:endParaRPr lang="en-US" sz="1152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548640" y="3749040"/>
          <a:ext cx="804672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 环境配置与基础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 Prompt 策略优化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 RAG 知识检索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 模型微调实战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 Agent 智能体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 多模态系统集成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 性能调优路径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 工程化部署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 安全合规防线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 自动化量化评估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 工业场景落地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12-13. 复合系统与复盘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阶段一与阶段二：防线与调度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931920" cy="2103120"/>
          </a:xfrm>
          <a:custGeom>
            <a:avLst/>
            <a:gdLst/>
            <a:ahLst/>
            <a:cxnLst/>
            <a:rect l="l" t="t" r="r" b="b"/>
            <a:pathLst>
              <a:path w="3931920" h="2103120">
                <a:moveTo>
                  <a:pt x="0" y="0"/>
                </a:moveTo>
                <a:lnTo>
                  <a:pt x="3931920" y="0"/>
                </a:lnTo>
                <a:lnTo>
                  <a:pt x="39319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3566160" cy="4812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 err="1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阶段一：实验主题</a:t>
            </a:r>
            <a:r>
              <a:rPr lang="en-US" sz="1728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1-</a:t>
            </a:r>
            <a:r>
              <a:rPr lang="en-US" altLang="zh-CN" sz="1728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5661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 实战与 Agent 版本管理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TDD 驱动：有效拦截模型幻觉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核心能力：意图解析架构设计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2103120"/>
          </a:xfrm>
          <a:custGeom>
            <a:avLst/>
            <a:gdLst/>
            <a:ahLst/>
            <a:cxnLst/>
            <a:rect l="l" t="t" r="r" b="b"/>
            <a:pathLst>
              <a:path w="3931920" h="2103120">
                <a:moveTo>
                  <a:pt x="0" y="0"/>
                </a:moveTo>
                <a:lnTo>
                  <a:pt x="3931920" y="0"/>
                </a:lnTo>
                <a:lnTo>
                  <a:pt x="39319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46320" y="1600200"/>
            <a:ext cx="3566160" cy="4812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 err="1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阶段二：实验主题</a:t>
            </a:r>
            <a:r>
              <a:rPr lang="en-US" sz="1728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728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728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-6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846320" y="2194560"/>
            <a:ext cx="35661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纯代码手写调度器 (Scheduler)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Harness 拦截器体系设计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异步高并发限流器实践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8046720" cy="868680"/>
          </a:xfrm>
          <a:custGeom>
            <a:avLst/>
            <a:gdLst/>
            <a:ahLst/>
            <a:cxnLst/>
            <a:rect l="l" t="t" r="r" b="b"/>
            <a:pathLst>
              <a:path w="8046720" h="868680">
                <a:moveTo>
                  <a:pt x="0" y="0"/>
                </a:moveTo>
                <a:lnTo>
                  <a:pt x="8046720" y="0"/>
                </a:lnTo>
                <a:lnTo>
                  <a:pt x="8046720" y="868680"/>
                </a:lnTo>
                <a:lnTo>
                  <a:pt x="0" y="868680"/>
                </a:lnTo>
                <a:close/>
              </a:path>
            </a:pathLst>
          </a:custGeom>
          <a:solidFill>
            <a:srgbClr val="EBF8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54864" cy="868680"/>
          </a:xfrm>
          <a:custGeom>
            <a:avLst/>
            <a:gdLst/>
            <a:ahLst/>
            <a:cxnLst/>
            <a:rect l="l" t="t" r="r" b="b"/>
            <a:pathLst>
              <a:path w="54864" h="868680">
                <a:moveTo>
                  <a:pt x="0" y="0"/>
                </a:moveTo>
                <a:lnTo>
                  <a:pt x="54864" y="0"/>
                </a:lnTo>
                <a:lnTo>
                  <a:pt x="54864" y="868680"/>
                </a:lnTo>
                <a:lnTo>
                  <a:pt x="0" y="868680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77240" y="3895344"/>
            <a:ext cx="75895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核心特色：</a:t>
            </a:r>
            <a:r>
              <a:rPr lang="en-US" sz="144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透视 Agent 运行的 while 循环，不依赖重型框架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设计重点：</a:t>
            </a:r>
            <a:r>
              <a:rPr lang="en-US" sz="144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防阻塞调度策略 与 Token 自动化熔断机制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阶段三：记忆、协议与多智能体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52144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438912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核心主题：</a:t>
            </a: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笔记本级 RAG、MCP 协议、博弈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工程实战：</a:t>
            </a: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私有知识库与标准化技能开发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协作模式：</a:t>
            </a: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程序员与审查员的状态机协作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系统能力：</a:t>
            </a: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具备长期记忆与自我修正逻辑</a:t>
            </a:r>
            <a:endParaRPr lang="en-US" sz="1152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54480"/>
            <a:ext cx="3474720" cy="19568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74904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731520" y="394106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目标：构建具备“长期记忆”和“自我修正”能力的系统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3749040"/>
            <a:ext cx="54864" cy="914400"/>
          </a:xfrm>
          <a:custGeom>
            <a:avLst/>
            <a:gdLst/>
            <a:ahLst/>
            <a:cxnLst/>
            <a:rect l="l" t="t" r="r" b="b"/>
            <a:pathLst>
              <a:path w="54864" h="914400">
                <a:moveTo>
                  <a:pt x="0" y="0"/>
                </a:moveTo>
                <a:lnTo>
                  <a:pt x="54864" y="0"/>
                </a:lnTo>
                <a:lnTo>
                  <a:pt x="5486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阶段四与阶段五：全栈贯通与运维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931920" cy="3108960"/>
          </a:xfrm>
          <a:custGeom>
            <a:avLst/>
            <a:gdLst/>
            <a:ahLst/>
            <a:cxnLst/>
            <a:rect l="l" t="t" r="r" b="b"/>
            <a:pathLst>
              <a:path w="3931920" h="3108960">
                <a:moveTo>
                  <a:pt x="0" y="0"/>
                </a:moveTo>
                <a:lnTo>
                  <a:pt x="3931920" y="0"/>
                </a:lnTo>
                <a:lnTo>
                  <a:pt x="39319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10：全栈生成与封装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450592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Trae SOLO 全栈代码生成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FastAPI 容器化生产级封装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系统性能与耗时瓶颈识别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3108960"/>
          </a:xfrm>
          <a:custGeom>
            <a:avLst/>
            <a:gdLst/>
            <a:ahLst/>
            <a:cxnLst/>
            <a:rect l="l" t="t" r="r" b="b"/>
            <a:pathLst>
              <a:path w="3931920" h="3108960">
                <a:moveTo>
                  <a:pt x="0" y="0"/>
                </a:moveTo>
                <a:lnTo>
                  <a:pt x="3931920" y="0"/>
                </a:lnTo>
                <a:lnTo>
                  <a:pt x="39319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46320" y="1737360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11-12：运维与合规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846320" y="2450592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 EDD 的量化运维体系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安全对抗：防范提示词越狱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工程伦理：数据隐私与合规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470916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48640" y="475488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核心：从自动化生成到高安全部署的全生命周期管理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终极挑战：期末收官之战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5214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31520" y="151790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20" y="137160"/>
                </a:moveTo>
                <a:cubicBezTo>
                  <a:pt x="274320" y="212861"/>
                  <a:pt x="212861" y="274320"/>
                  <a:pt x="137160" y="274320"/>
                </a:cubicBezTo>
                <a:cubicBezTo>
                  <a:pt x="61459" y="274320"/>
                  <a:pt x="0" y="212861"/>
                  <a:pt x="0" y="137160"/>
                </a:cubicBezTo>
                <a:cubicBezTo>
                  <a:pt x="0" y="61459"/>
                  <a:pt x="61459" y="0"/>
                  <a:pt x="137160" y="0"/>
                </a:cubicBezTo>
                <a:cubicBezTo>
                  <a:pt x="212861" y="0"/>
                  <a:pt x="274320" y="61459"/>
                  <a:pt x="274320" y="13716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3000" y="1417320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13</a:t>
            </a: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：企业级 AI 助理全栈开发与答辩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731520" y="215798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20" y="137160"/>
                </a:moveTo>
                <a:cubicBezTo>
                  <a:pt x="274320" y="212861"/>
                  <a:pt x="212861" y="274320"/>
                  <a:pt x="137160" y="274320"/>
                </a:cubicBezTo>
                <a:cubicBezTo>
                  <a:pt x="61459" y="274320"/>
                  <a:pt x="0" y="212861"/>
                  <a:pt x="0" y="137160"/>
                </a:cubicBezTo>
                <a:cubicBezTo>
                  <a:pt x="0" y="61459"/>
                  <a:pt x="61459" y="0"/>
                  <a:pt x="137160" y="0"/>
                </a:cubicBezTo>
                <a:cubicBezTo>
                  <a:pt x="212861" y="0"/>
                  <a:pt x="274320" y="61459"/>
                  <a:pt x="274320" y="13716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43000" y="2057400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冲刺</a:t>
            </a: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：结对开发完整的 AI 全栈应用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731520" y="279806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20" y="137160"/>
                </a:moveTo>
                <a:cubicBezTo>
                  <a:pt x="274320" y="212861"/>
                  <a:pt x="212861" y="274320"/>
                  <a:pt x="137160" y="274320"/>
                </a:cubicBezTo>
                <a:cubicBezTo>
                  <a:pt x="61459" y="274320"/>
                  <a:pt x="0" y="212861"/>
                  <a:pt x="0" y="137160"/>
                </a:cubicBezTo>
                <a:cubicBezTo>
                  <a:pt x="0" y="61459"/>
                  <a:pt x="61459" y="0"/>
                  <a:pt x="137160" y="0"/>
                </a:cubicBezTo>
                <a:cubicBezTo>
                  <a:pt x="212861" y="0"/>
                  <a:pt x="274320" y="61459"/>
                  <a:pt x="274320" y="13716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43000" y="2697480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Vibe-Check 答辩</a:t>
            </a: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：脱离 IDE 白板推演核心代码原理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结语：开启驯服 AI 的旅程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从开发者到管理者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这不仅是写代码，更是架构与智能管理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掌握这套体系，成为不可替代的管理者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182880" y="3108960"/>
            <a:ext cx="804672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i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Let's start the journey!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2562</Words>
  <Application>Microsoft Macintosh PowerPoint</Application>
  <PresentationFormat>全屏显示(16:9)</PresentationFormat>
  <Paragraphs>218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刘锦行</cp:lastModifiedBy>
  <cp:revision>4</cp:revision>
  <dcterms:created xsi:type="dcterms:W3CDTF">2026-04-06T08:59:21Z</dcterms:created>
  <dcterms:modified xsi:type="dcterms:W3CDTF">2026-04-06T11:04:49Z</dcterms:modified>
</cp:coreProperties>
</file>